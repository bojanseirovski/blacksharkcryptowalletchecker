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32759F-BD4A-4B5B-809D-E152EC755A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866E28-3E0C-469A-9FD1-755B177A87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B4D8F8-7573-45FB-BB56-38126292DA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5BA338-A7B9-414D-B1C2-EAD4356CC6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48FFBB-6A1B-4D95-BAF9-CFB45BFAB5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D5AFAA-E00F-495E-B9A0-30127FBEE0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E80780-11E2-49F5-8328-988A7C436C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C99C59-2DE1-492F-99F0-B5FCE0AD76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5CEB5C-2010-4AA7-86CC-5AD5016459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AF0D90-0736-461A-A550-37D072D544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36E090-4E5B-43D6-BCCF-EF16783DF1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9793C3-81D7-433B-BC5F-155576CD26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CA" sz="1400" spc="-1" strike="noStrike"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4A042EB-6E70-4DA3-BF8D-BD02A97FEFC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914400" y="1371600"/>
            <a:ext cx="100580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800" spc="-1" strike="noStrike">
                <a:solidFill>
                  <a:srgbClr val="3b82f6"/>
                </a:solidFill>
                <a:latin typeface="Calibri"/>
              </a:rPr>
              <a:t>WalletChecker</a:t>
            </a:r>
            <a:endParaRPr b="0" lang="en-CA" sz="48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914400" y="2560320"/>
            <a:ext cx="100580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9fafb"/>
                </a:solidFill>
                <a:latin typeface="Calibri"/>
              </a:rPr>
              <a:t>Crypto Wallet Transaction Monitor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914400" y="3474720"/>
            <a:ext cx="1005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9ca3af"/>
                </a:solidFill>
                <a:latin typeface="Calibri"/>
              </a:rPr>
              <a:t>React + TypeScript  |  BitGo SDK  |  SQLite  |  Anomaly Detection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914400" y="502920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9ca3af"/>
                </a:solidFill>
                <a:latin typeface="Calibri"/>
              </a:rPr>
              <a:t>tLTC Testnet Demo Application</a:t>
            </a:r>
            <a:endParaRPr b="0" lang="en-CA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1"/>
          <p:cNvSpPr/>
          <p:nvPr/>
        </p:nvSpPr>
        <p:spPr>
          <a:xfrm>
            <a:off x="731520" y="45720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b82f6"/>
                </a:solidFill>
                <a:latin typeface="Calibri"/>
              </a:rPr>
              <a:t>Project Overview</a:t>
            </a:r>
            <a:endParaRPr b="0" lang="en-CA" sz="3600" spc="-1" strike="noStrike">
              <a:latin typeface="Arial"/>
            </a:endParaRPr>
          </a:p>
        </p:txBody>
      </p:sp>
      <p:sp>
        <p:nvSpPr>
          <p:cNvPr id="46" name="TextBox 2"/>
          <p:cNvSpPr/>
          <p:nvPr/>
        </p:nvSpPr>
        <p:spPr>
          <a:xfrm>
            <a:off x="914400" y="1371600"/>
            <a:ext cx="9143640" cy="33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Web-based crypto wallet monitor built with React + Vite + TypeScript and Python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Uses BitGo REST API to send tLTC (Litecoin Testnet) transactions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Integrates with an external anomaly detection API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Transactions are validated before sending — flagged as OK or Anomalous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SQLite database (sql.js WASM) persists all transaction history in-browser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Dark-themed UI with login, dashboard, and send transaction flows</a:t>
            </a:r>
            <a:endParaRPr b="0" lang="en-CA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731520" y="45720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b82f6"/>
                </a:solidFill>
                <a:latin typeface="Calibri"/>
              </a:rPr>
              <a:t>Architecture</a:t>
            </a:r>
            <a:endParaRPr b="0" lang="en-CA" sz="3600" spc="-1" strike="noStrike">
              <a:latin typeface="Arial"/>
            </a:endParaRPr>
          </a:p>
        </p:txBody>
      </p:sp>
      <p:sp>
        <p:nvSpPr>
          <p:cNvPr id="48" name="Rounded Rectangle 2"/>
          <p:cNvSpPr/>
          <p:nvPr/>
        </p:nvSpPr>
        <p:spPr>
          <a:xfrm>
            <a:off x="731520" y="1371600"/>
            <a:ext cx="5028840" cy="475452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TextBox 3"/>
          <p:cNvSpPr/>
          <p:nvPr/>
        </p:nvSpPr>
        <p:spPr>
          <a:xfrm>
            <a:off x="1005840" y="1554480"/>
            <a:ext cx="4571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bbf24"/>
                </a:solidFill>
                <a:latin typeface="Calibri"/>
              </a:rPr>
              <a:t>Tech Stack</a:t>
            </a:r>
            <a:endParaRPr b="0" lang="en-CA" sz="2200" spc="-1" strike="noStrike">
              <a:latin typeface="Arial"/>
            </a:endParaRPr>
          </a:p>
        </p:txBody>
      </p:sp>
      <p:sp>
        <p:nvSpPr>
          <p:cNvPr id="50" name="TextBox 4"/>
          <p:cNvSpPr/>
          <p:nvPr/>
        </p:nvSpPr>
        <p:spPr>
          <a:xfrm>
            <a:off x="1005840" y="2103120"/>
            <a:ext cx="4571640" cy="21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React 18 + TypeScript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Vite (dev server + bundler)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React Router DOM (navigation)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sql.js (SQLite via WebAssembly)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Axios (HTTP client)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BitGo REST API (tLTC testnet)</a:t>
            </a:r>
            <a:endParaRPr b="0" lang="en-CA" sz="1700" spc="-1" strike="noStrike">
              <a:latin typeface="Arial"/>
            </a:endParaRPr>
          </a:p>
        </p:txBody>
      </p:sp>
      <p:sp>
        <p:nvSpPr>
          <p:cNvPr id="51" name="Rounded Rectangle 5"/>
          <p:cNvSpPr/>
          <p:nvPr/>
        </p:nvSpPr>
        <p:spPr>
          <a:xfrm>
            <a:off x="6217920" y="137160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TextBox 6"/>
          <p:cNvSpPr/>
          <p:nvPr/>
        </p:nvSpPr>
        <p:spPr>
          <a:xfrm>
            <a:off x="6492240" y="1554480"/>
            <a:ext cx="4754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bbf24"/>
                </a:solidFill>
                <a:latin typeface="Calibri"/>
              </a:rPr>
              <a:t>Project Structure</a:t>
            </a:r>
            <a:endParaRPr b="0" lang="en-CA" sz="2200" spc="-1" strike="noStrike">
              <a:latin typeface="Arial"/>
            </a:endParaRPr>
          </a:p>
        </p:txBody>
      </p:sp>
      <p:sp>
        <p:nvSpPr>
          <p:cNvPr id="53" name="TextBox 7"/>
          <p:cNvSpPr/>
          <p:nvPr/>
        </p:nvSpPr>
        <p:spPr>
          <a:xfrm>
            <a:off x="6492240" y="2103120"/>
            <a:ext cx="4754520" cy="29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9ca3af"/>
                </a:solidFill>
                <a:latin typeface="Calibri"/>
              </a:rPr>
              <a:t>src/pages/        →  Login, Dashboard, Send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9ca3af"/>
                </a:solidFill>
                <a:latin typeface="Calibri"/>
              </a:rPr>
              <a:t>src/services/     →  API client, BitGo wrapper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9ca3af"/>
                </a:solidFill>
                <a:latin typeface="Calibri"/>
              </a:rPr>
              <a:t>src/db/              →  SQLite (WASM) database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9ca3af"/>
                </a:solidFill>
                <a:latin typeface="Calibri"/>
              </a:rPr>
              <a:t>src/context/      →  Auth state management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9ca3af"/>
                </a:solidFill>
                <a:latin typeface="Calibri"/>
              </a:rPr>
              <a:t>src/config/        →  Environment variables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9ca3af"/>
                </a:solidFill>
                <a:latin typeface="Calibri"/>
              </a:rPr>
              <a:t>src/types/          →  TypeScript interfaces</a:t>
            </a:r>
            <a:endParaRPr b="0" lang="en-CA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1"/>
          <p:cNvSpPr/>
          <p:nvPr/>
        </p:nvSpPr>
        <p:spPr>
          <a:xfrm>
            <a:off x="731520" y="45720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b82f6"/>
                </a:solidFill>
                <a:latin typeface="Calibri"/>
              </a:rPr>
              <a:t>Authentication Flow</a:t>
            </a:r>
            <a:endParaRPr b="0" lang="en-CA" sz="3600" spc="-1" strike="noStrike">
              <a:latin typeface="Arial"/>
            </a:endParaRPr>
          </a:p>
        </p:txBody>
      </p:sp>
      <p:sp>
        <p:nvSpPr>
          <p:cNvPr id="55" name="Rounded Rectangle 2"/>
          <p:cNvSpPr/>
          <p:nvPr/>
        </p:nvSpPr>
        <p:spPr>
          <a:xfrm>
            <a:off x="731520" y="1371600"/>
            <a:ext cx="5028840" cy="457164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TextBox 3"/>
          <p:cNvSpPr/>
          <p:nvPr/>
        </p:nvSpPr>
        <p:spPr>
          <a:xfrm>
            <a:off x="1005840" y="1554480"/>
            <a:ext cx="4571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0b981"/>
                </a:solidFill>
                <a:latin typeface="Calibri"/>
              </a:rPr>
              <a:t>Login</a:t>
            </a:r>
            <a:endParaRPr b="0" lang="en-CA" sz="2200" spc="-1" strike="noStrike">
              <a:latin typeface="Arial"/>
            </a:endParaRPr>
          </a:p>
        </p:txBody>
      </p:sp>
      <p:sp>
        <p:nvSpPr>
          <p:cNvPr id="57" name="TextBox 4"/>
          <p:cNvSpPr/>
          <p:nvPr/>
        </p:nvSpPr>
        <p:spPr>
          <a:xfrm>
            <a:off x="1005840" y="2103120"/>
            <a:ext cx="4571640" cy="21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Email + password form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Demo credentials: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   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druid0101@gmail.com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   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123456789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Validates against hardcoded values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Sets auth state in React Context</a:t>
            </a:r>
            <a:endParaRPr b="0" lang="en-CA" sz="1700" spc="-1" strike="noStrike">
              <a:latin typeface="Arial"/>
            </a:endParaRPr>
          </a:p>
        </p:txBody>
      </p:sp>
      <p:sp>
        <p:nvSpPr>
          <p:cNvPr id="58" name="Rounded Rectangle 5"/>
          <p:cNvSpPr/>
          <p:nvPr/>
        </p:nvSpPr>
        <p:spPr>
          <a:xfrm>
            <a:off x="6217920" y="1371600"/>
            <a:ext cx="5211720" cy="457164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6"/>
          <p:cNvSpPr/>
          <p:nvPr/>
        </p:nvSpPr>
        <p:spPr>
          <a:xfrm>
            <a:off x="6492240" y="1554480"/>
            <a:ext cx="4754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0b981"/>
                </a:solidFill>
                <a:latin typeface="Calibri"/>
              </a:rPr>
              <a:t>Register</a:t>
            </a:r>
            <a:endParaRPr b="0" lang="en-CA" sz="2200" spc="-1" strike="noStrike">
              <a:latin typeface="Arial"/>
            </a:endParaRPr>
          </a:p>
        </p:txBody>
      </p:sp>
      <p:sp>
        <p:nvSpPr>
          <p:cNvPr id="60" name="TextBox 7"/>
          <p:cNvSpPr/>
          <p:nvPr/>
        </p:nvSpPr>
        <p:spPr>
          <a:xfrm>
            <a:off x="6492240" y="2103120"/>
            <a:ext cx="4754520" cy="21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Register button on login page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Immediately authenticates user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Redirects to dashboard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No registration form (demo mode)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Protected routes via React Router</a:t>
            </a:r>
            <a:endParaRPr b="0" lang="en-CA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731520" y="45720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b82f6"/>
                </a:solidFill>
                <a:latin typeface="Calibri"/>
              </a:rPr>
              <a:t>Dashboard</a:t>
            </a:r>
            <a:endParaRPr b="0" lang="en-CA" sz="3600" spc="-1" strike="noStrike"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1371600"/>
            <a:ext cx="10058040" cy="32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Displays wallet address (tLTC) from environment config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Lists all transactions from SQLite database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Each transaction shows: amount, destination, timestamp, tx hash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Status badges: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10b981"/>
                </a:solidFill>
                <a:latin typeface="Calibri"/>
              </a:rPr>
              <a:t>     ●  </a:t>
            </a:r>
            <a:r>
              <a:rPr b="0" lang="en-US" sz="2000" spc="-1" strike="noStrike">
                <a:solidFill>
                  <a:srgbClr val="10b981"/>
                </a:solidFill>
                <a:latin typeface="Calibri"/>
              </a:rPr>
              <a:t>OK — Transaction passed anomaly check and was sent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ef4444"/>
                </a:solidFill>
                <a:latin typeface="Calibri"/>
              </a:rPr>
              <a:t>     ●  </a:t>
            </a:r>
            <a:r>
              <a:rPr b="0" lang="en-US" sz="2000" spc="-1" strike="noStrike">
                <a:solidFill>
                  <a:srgbClr val="ef4444"/>
                </a:solidFill>
                <a:latin typeface="Calibri"/>
              </a:rPr>
              <a:t>ANOMALOUS — Transaction flagged by API, not sent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Send button navigates to transaction form</a:t>
            </a:r>
            <a:endParaRPr b="0" lang="en-CA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f9fafb"/>
                </a:solidFill>
                <a:latin typeface="Calibri"/>
              </a:rPr>
              <a:t>Sign out button to return to login</a:t>
            </a:r>
            <a:endParaRPr b="0" lang="en-CA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731520" y="45720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b82f6"/>
                </a:solidFill>
                <a:latin typeface="Calibri"/>
              </a:rPr>
              <a:t>Transaction Flow</a:t>
            </a:r>
            <a:endParaRPr b="0" lang="en-CA" sz="3600" spc="-1" strike="noStrike">
              <a:latin typeface="Arial"/>
            </a:endParaRPr>
          </a:p>
        </p:txBody>
      </p:sp>
      <p:sp>
        <p:nvSpPr>
          <p:cNvPr id="64" name="Rounded Rectangle 2"/>
          <p:cNvSpPr/>
          <p:nvPr/>
        </p:nvSpPr>
        <p:spPr>
          <a:xfrm>
            <a:off x="548640" y="1645920"/>
            <a:ext cx="2011320" cy="292572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TextBox 3"/>
          <p:cNvSpPr/>
          <p:nvPr/>
        </p:nvSpPr>
        <p:spPr>
          <a:xfrm>
            <a:off x="640080" y="1828800"/>
            <a:ext cx="1828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3b82f6"/>
                </a:solidFill>
                <a:latin typeface="Calibri"/>
              </a:rPr>
              <a:t>1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640080" y="2377440"/>
            <a:ext cx="1828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9fafb"/>
                </a:solidFill>
                <a:latin typeface="Calibri"/>
              </a:rPr>
              <a:t>User Input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640080" y="2926080"/>
            <a:ext cx="182844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9ca3af"/>
                </a:solidFill>
                <a:latin typeface="Calibri"/>
              </a:rPr>
              <a:t>Enter amount +</a:t>
            </a:r>
            <a:br>
              <a:rPr sz="1500"/>
            </a:br>
            <a:r>
              <a:rPr b="0" lang="en-US" sz="1500" spc="-1" strike="noStrike">
                <a:solidFill>
                  <a:srgbClr val="9ca3af"/>
                </a:solidFill>
                <a:latin typeface="Calibri"/>
              </a:rPr>
              <a:t>destination address</a:t>
            </a:r>
            <a:endParaRPr b="0" lang="en-CA" sz="1500" spc="-1" strike="noStrike">
              <a:latin typeface="Arial"/>
            </a:endParaRPr>
          </a:p>
        </p:txBody>
      </p:sp>
      <p:sp>
        <p:nvSpPr>
          <p:cNvPr id="68" name="Rounded Rectangle 6"/>
          <p:cNvSpPr/>
          <p:nvPr/>
        </p:nvSpPr>
        <p:spPr>
          <a:xfrm>
            <a:off x="2834640" y="1645920"/>
            <a:ext cx="2011320" cy="292572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7"/>
          <p:cNvSpPr/>
          <p:nvPr/>
        </p:nvSpPr>
        <p:spPr>
          <a:xfrm>
            <a:off x="2926080" y="1828800"/>
            <a:ext cx="1828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bbf24"/>
                </a:solidFill>
                <a:latin typeface="Calibri"/>
              </a:rPr>
              <a:t>2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70" name="TextBox 8"/>
          <p:cNvSpPr/>
          <p:nvPr/>
        </p:nvSpPr>
        <p:spPr>
          <a:xfrm>
            <a:off x="2926080" y="2377440"/>
            <a:ext cx="1828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9fafb"/>
                </a:solidFill>
                <a:latin typeface="Calibri"/>
              </a:rPr>
              <a:t>API Check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2926080" y="2926080"/>
            <a:ext cx="18284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9ca3af"/>
                </a:solidFill>
                <a:latin typeface="Calibri"/>
              </a:rPr>
              <a:t>Send to anomaly</a:t>
            </a:r>
            <a:br>
              <a:rPr sz="1500"/>
            </a:br>
            <a:r>
              <a:rPr b="0" lang="en-US" sz="1500" spc="-1" strike="noStrike">
                <a:solidFill>
                  <a:srgbClr val="9ca3af"/>
                </a:solidFill>
                <a:latin typeface="Calibri"/>
              </a:rPr>
              <a:t>detection API</a:t>
            </a:r>
            <a:endParaRPr b="0" lang="en-CA" sz="1500" spc="-1" strike="noStrike">
              <a:latin typeface="Arial"/>
            </a:endParaRPr>
          </a:p>
        </p:txBody>
      </p:sp>
      <p:sp>
        <p:nvSpPr>
          <p:cNvPr id="72" name="Rounded Rectangle 10"/>
          <p:cNvSpPr/>
          <p:nvPr/>
        </p:nvSpPr>
        <p:spPr>
          <a:xfrm>
            <a:off x="5120640" y="1645920"/>
            <a:ext cx="2011320" cy="292572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TextBox 11"/>
          <p:cNvSpPr/>
          <p:nvPr/>
        </p:nvSpPr>
        <p:spPr>
          <a:xfrm>
            <a:off x="5212080" y="1828800"/>
            <a:ext cx="1828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0b981"/>
                </a:solidFill>
                <a:latin typeface="Calibri"/>
              </a:rPr>
              <a:t>3a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74" name="TextBox 12"/>
          <p:cNvSpPr/>
          <p:nvPr/>
        </p:nvSpPr>
        <p:spPr>
          <a:xfrm>
            <a:off x="5212080" y="2377440"/>
            <a:ext cx="1828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9fafb"/>
                </a:solidFill>
                <a:latin typeface="Calibri"/>
              </a:rPr>
              <a:t>Status: OK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75" name="TextBox 13"/>
          <p:cNvSpPr/>
          <p:nvPr/>
        </p:nvSpPr>
        <p:spPr>
          <a:xfrm>
            <a:off x="5212080" y="2926080"/>
            <a:ext cx="18284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9ca3af"/>
                </a:solidFill>
                <a:latin typeface="Calibri"/>
              </a:rPr>
              <a:t>Send tLTC via</a:t>
            </a:r>
            <a:br>
              <a:rPr sz="1500"/>
            </a:br>
            <a:r>
              <a:rPr b="0" lang="en-US" sz="1500" spc="-1" strike="noStrike">
                <a:solidFill>
                  <a:srgbClr val="9ca3af"/>
                </a:solidFill>
                <a:latin typeface="Calibri"/>
              </a:rPr>
              <a:t>BitGo REST API</a:t>
            </a:r>
            <a:endParaRPr b="0" lang="en-CA" sz="1500" spc="-1" strike="noStrike">
              <a:latin typeface="Arial"/>
            </a:endParaRPr>
          </a:p>
        </p:txBody>
      </p:sp>
      <p:sp>
        <p:nvSpPr>
          <p:cNvPr id="76" name="Rounded Rectangle 14"/>
          <p:cNvSpPr/>
          <p:nvPr/>
        </p:nvSpPr>
        <p:spPr>
          <a:xfrm>
            <a:off x="7406640" y="1645920"/>
            <a:ext cx="2011320" cy="292572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15"/>
          <p:cNvSpPr/>
          <p:nvPr/>
        </p:nvSpPr>
        <p:spPr>
          <a:xfrm>
            <a:off x="7498080" y="1828800"/>
            <a:ext cx="1828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f4444"/>
                </a:solidFill>
                <a:latin typeface="Calibri"/>
              </a:rPr>
              <a:t>3b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78" name="TextBox 16"/>
          <p:cNvSpPr/>
          <p:nvPr/>
        </p:nvSpPr>
        <p:spPr>
          <a:xfrm>
            <a:off x="7498080" y="2377440"/>
            <a:ext cx="1828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9fafb"/>
                </a:solidFill>
                <a:latin typeface="Calibri"/>
              </a:rPr>
              <a:t>Status: Error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79" name="TextBox 17"/>
          <p:cNvSpPr/>
          <p:nvPr/>
        </p:nvSpPr>
        <p:spPr>
          <a:xfrm>
            <a:off x="7498080" y="2926080"/>
            <a:ext cx="18284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9ca3af"/>
                </a:solidFill>
                <a:latin typeface="Calibri"/>
              </a:rPr>
              <a:t>Mark transaction</a:t>
            </a:r>
            <a:br>
              <a:rPr sz="1500"/>
            </a:br>
            <a:r>
              <a:rPr b="0" lang="en-US" sz="1500" spc="-1" strike="noStrike">
                <a:solidFill>
                  <a:srgbClr val="9ca3af"/>
                </a:solidFill>
                <a:latin typeface="Calibri"/>
              </a:rPr>
              <a:t>as anomalous</a:t>
            </a:r>
            <a:endParaRPr b="0" lang="en-CA" sz="1500" spc="-1" strike="noStrike">
              <a:latin typeface="Arial"/>
            </a:endParaRPr>
          </a:p>
        </p:txBody>
      </p:sp>
      <p:sp>
        <p:nvSpPr>
          <p:cNvPr id="80" name="Rounded Rectangle 18"/>
          <p:cNvSpPr/>
          <p:nvPr/>
        </p:nvSpPr>
        <p:spPr>
          <a:xfrm>
            <a:off x="9692640" y="1645920"/>
            <a:ext cx="2011320" cy="292572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TextBox 19"/>
          <p:cNvSpPr/>
          <p:nvPr/>
        </p:nvSpPr>
        <p:spPr>
          <a:xfrm>
            <a:off x="9784080" y="1828800"/>
            <a:ext cx="1828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3b82f6"/>
                </a:solidFill>
                <a:latin typeface="Calibri"/>
              </a:rPr>
              <a:t>4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2" name="TextBox 20"/>
          <p:cNvSpPr/>
          <p:nvPr/>
        </p:nvSpPr>
        <p:spPr>
          <a:xfrm>
            <a:off x="9784080" y="2377440"/>
            <a:ext cx="1828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9fafb"/>
                </a:solidFill>
                <a:latin typeface="Calibri"/>
              </a:rPr>
              <a:t>Persist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83" name="TextBox 21"/>
          <p:cNvSpPr/>
          <p:nvPr/>
        </p:nvSpPr>
        <p:spPr>
          <a:xfrm>
            <a:off x="9784080" y="2926080"/>
            <a:ext cx="18284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9ca3af"/>
                </a:solidFill>
                <a:latin typeface="Calibri"/>
              </a:rPr>
              <a:t>Save to SQLite</a:t>
            </a:r>
            <a:br>
              <a:rPr sz="1500"/>
            </a:br>
            <a:r>
              <a:rPr b="0" lang="en-US" sz="1500" spc="-1" strike="noStrike">
                <a:solidFill>
                  <a:srgbClr val="9ca3af"/>
                </a:solidFill>
                <a:latin typeface="Calibri"/>
              </a:rPr>
              <a:t>with status</a:t>
            </a:r>
            <a:endParaRPr b="0" lang="en-CA" sz="1500" spc="-1" strike="noStrike">
              <a:latin typeface="Arial"/>
            </a:endParaRPr>
          </a:p>
        </p:txBody>
      </p:sp>
      <p:sp>
        <p:nvSpPr>
          <p:cNvPr id="84" name="TextBox 22"/>
          <p:cNvSpPr/>
          <p:nvPr/>
        </p:nvSpPr>
        <p:spPr>
          <a:xfrm>
            <a:off x="2560320" y="2560320"/>
            <a:ext cx="5482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9ca3af"/>
                </a:solidFill>
                <a:latin typeface="Calibri"/>
              </a:rPr>
              <a:t>➜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5" name="TextBox 23"/>
          <p:cNvSpPr/>
          <p:nvPr/>
        </p:nvSpPr>
        <p:spPr>
          <a:xfrm>
            <a:off x="4846320" y="2560320"/>
            <a:ext cx="5482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9ca3af"/>
                </a:solidFill>
                <a:latin typeface="Calibri"/>
              </a:rPr>
              <a:t>➜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6" name="TextBox 24"/>
          <p:cNvSpPr/>
          <p:nvPr/>
        </p:nvSpPr>
        <p:spPr>
          <a:xfrm>
            <a:off x="7132320" y="2560320"/>
            <a:ext cx="5482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9ca3af"/>
                </a:solidFill>
                <a:latin typeface="Calibri"/>
              </a:rPr>
              <a:t>➜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7" name="TextBox 25"/>
          <p:cNvSpPr/>
          <p:nvPr/>
        </p:nvSpPr>
        <p:spPr>
          <a:xfrm>
            <a:off x="9418320" y="2560320"/>
            <a:ext cx="5482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9ca3af"/>
                </a:solidFill>
                <a:latin typeface="Calibri"/>
              </a:rPr>
              <a:t>➜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8" name="TextBox 26"/>
          <p:cNvSpPr/>
          <p:nvPr/>
        </p:nvSpPr>
        <p:spPr>
          <a:xfrm>
            <a:off x="731520" y="5029200"/>
            <a:ext cx="10515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9ca3af"/>
                </a:solidFill>
                <a:latin typeface="Calibri"/>
              </a:rPr>
              <a:t>Payload sent to API:  { amount, wallet_address, timestamp, wallet_age }</a:t>
            </a:r>
            <a:endParaRPr b="0" lang="en-CA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731520" y="45720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b82f6"/>
                </a:solidFill>
                <a:latin typeface="Calibri"/>
              </a:rPr>
              <a:t>BitGo Integration</a:t>
            </a:r>
            <a:endParaRPr b="0" lang="en-CA" sz="3600" spc="-1" strike="noStrike"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914400" y="1371600"/>
            <a:ext cx="10058040" cy="41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Uses BitGo REST API directly (not the Node.js SDK)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Endpoint: test.bitgo.com/api/v2/tltc/wallet/{id}/sendcoins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Network: tLTC (Litecoin Testnet)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Amount converted to litoshis (1 LTC = 100,000,000 litoshis)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Authentication via Bearer token from environment config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Configuration via .env file: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9ca3af"/>
                </a:solidFill>
                <a:latin typeface="Calibri"/>
              </a:rPr>
              <a:t>     </a:t>
            </a:r>
            <a:r>
              <a:rPr b="0" lang="en-US" sz="1800" spc="-1" strike="noStrike">
                <a:solidFill>
                  <a:srgbClr val="9ca3af"/>
                </a:solidFill>
                <a:latin typeface="Calibri"/>
              </a:rPr>
              <a:t>VITE_BITGO_ACCESS_TOKEN    →  API access token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9ca3af"/>
                </a:solidFill>
                <a:latin typeface="Calibri"/>
              </a:rPr>
              <a:t>     </a:t>
            </a:r>
            <a:r>
              <a:rPr b="0" lang="en-US" sz="1800" spc="-1" strike="noStrike">
                <a:solidFill>
                  <a:srgbClr val="9ca3af"/>
                </a:solidFill>
                <a:latin typeface="Calibri"/>
              </a:rPr>
              <a:t>VITE_BITGO_WALLET_ID            →  Wallet identifier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9ca3af"/>
                </a:solidFill>
                <a:latin typeface="Calibri"/>
              </a:rPr>
              <a:t>     </a:t>
            </a:r>
            <a:r>
              <a:rPr b="0" lang="en-US" sz="1800" spc="-1" strike="noStrike">
                <a:solidFill>
                  <a:srgbClr val="9ca3af"/>
                </a:solidFill>
                <a:latin typeface="Calibri"/>
              </a:rPr>
              <a:t>VITE_BITGO_WALLET_PASSPHRASE  →  Wallet passphrase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9ca3af"/>
                </a:solidFill>
                <a:latin typeface="Calibri"/>
              </a:rPr>
              <a:t>     </a:t>
            </a:r>
            <a:r>
              <a:rPr b="0" lang="en-US" sz="1800" spc="-1" strike="noStrike">
                <a:solidFill>
                  <a:srgbClr val="9ca3af"/>
                </a:solidFill>
                <a:latin typeface="Calibri"/>
              </a:rPr>
              <a:t>VITE_WALLET_ADDRESS              →  Source tLTC address</a:t>
            </a:r>
            <a:endParaRPr b="0" lang="en-CA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731520" y="45720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b82f6"/>
                </a:solidFill>
                <a:latin typeface="Calibri"/>
              </a:rPr>
              <a:t>SQLite Database</a:t>
            </a:r>
            <a:endParaRPr b="0" lang="en-CA" sz="3600" spc="-1" strike="noStrike">
              <a:latin typeface="Arial"/>
            </a:endParaRPr>
          </a:p>
        </p:txBody>
      </p:sp>
      <p:sp>
        <p:nvSpPr>
          <p:cNvPr id="92" name="Rounded Rectangle 2"/>
          <p:cNvSpPr/>
          <p:nvPr/>
        </p:nvSpPr>
        <p:spPr>
          <a:xfrm>
            <a:off x="731520" y="1371600"/>
            <a:ext cx="6400440" cy="228564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TextBox 3"/>
          <p:cNvSpPr/>
          <p:nvPr/>
        </p:nvSpPr>
        <p:spPr>
          <a:xfrm>
            <a:off x="1005840" y="1554480"/>
            <a:ext cx="5943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bbf24"/>
                </a:solidFill>
                <a:latin typeface="Calibri"/>
              </a:rPr>
              <a:t>transactions table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1005840" y="2103120"/>
            <a:ext cx="59432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9ca3af"/>
                </a:solidFill>
                <a:latin typeface="Calibri"/>
              </a:rPr>
              <a:t>id  |  amount  |  destination_address  |  timestamp  |  wallet_age  |  status  |  tx_hash</a:t>
            </a:r>
            <a:endParaRPr b="0" lang="en-CA" sz="1500" spc="-1" strike="noStrike"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914400" y="3931920"/>
            <a:ext cx="10058040" cy="186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sql.js — SQLite compiled to WebAssembly, runs entirely in-browser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Database binary exported and persisted to localStorage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Survives page refreshes; full SQL query support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Status column: 'ok' or 'anomalous' (CHECK constraint)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tx_hash is NULL for anomalous transactions (crypto never sent)</a:t>
            </a:r>
            <a:endParaRPr b="0" lang="en-CA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731520" y="45720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b82f6"/>
                </a:solidFill>
                <a:latin typeface="Calibri"/>
              </a:rPr>
              <a:t>Anomaly Detection Integration</a:t>
            </a:r>
            <a:endParaRPr b="0" lang="en-CA" sz="3600" spc="-1" strike="noStrike">
              <a:latin typeface="Arial"/>
            </a:endParaRPr>
          </a:p>
        </p:txBody>
      </p:sp>
      <p:sp>
        <p:nvSpPr>
          <p:cNvPr id="97" name="Rounded Rectangle 2"/>
          <p:cNvSpPr/>
          <p:nvPr/>
        </p:nvSpPr>
        <p:spPr>
          <a:xfrm>
            <a:off x="731520" y="1371600"/>
            <a:ext cx="10515240" cy="228564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TextBox 3"/>
          <p:cNvSpPr/>
          <p:nvPr/>
        </p:nvSpPr>
        <p:spPr>
          <a:xfrm>
            <a:off x="1005840" y="155448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bbf24"/>
                </a:solidFill>
                <a:latin typeface="Calibri"/>
              </a:rPr>
              <a:t>Request → External API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1005840" y="2103120"/>
            <a:ext cx="4571640" cy="10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600" spc="-1" strike="noStrike">
                <a:solidFill>
                  <a:srgbClr val="f9fafb"/>
                </a:solidFill>
                <a:latin typeface="Calibri"/>
              </a:rPr>
              <a:t>POST  {API_URL}</a:t>
            </a:r>
            <a:endParaRPr b="0" lang="en-CA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600" spc="-1" strike="noStrike">
                <a:solidFill>
                  <a:srgbClr val="f9fafb"/>
                </a:solidFill>
                <a:latin typeface="Calibri"/>
              </a:rPr>
              <a:t>Body: { amount, wallet_address,</a:t>
            </a:r>
            <a:endParaRPr b="0" lang="en-CA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600" spc="-1" strike="noStrike">
                <a:solidFill>
                  <a:srgbClr val="f9fafb"/>
                </a:solidFill>
                <a:latin typeface="Calibri"/>
              </a:rPr>
              <a:t>        </a:t>
            </a:r>
            <a:r>
              <a:rPr b="0" lang="en-US" sz="1600" spc="-1" strike="noStrike">
                <a:solidFill>
                  <a:srgbClr val="f9fafb"/>
                </a:solidFill>
                <a:latin typeface="Calibri"/>
              </a:rPr>
              <a:t>timestamp, wallet_age }</a:t>
            </a:r>
            <a:endParaRPr b="0" lang="en-CA" sz="1600" spc="-1" strike="noStrike"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5943600" y="2103120"/>
            <a:ext cx="4571640" cy="67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600" spc="-1" strike="noStrike">
                <a:solidFill>
                  <a:srgbClr val="f9fafb"/>
                </a:solidFill>
                <a:latin typeface="Calibri"/>
              </a:rPr>
              <a:t>Response: { status: 'ok' | 'error',</a:t>
            </a:r>
            <a:endParaRPr b="0" lang="en-CA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600" spc="-1" strike="noStrike">
                <a:solidFill>
                  <a:srgbClr val="f9fafb"/>
                </a:solidFill>
                <a:latin typeface="Calibri"/>
              </a:rPr>
              <a:t>            </a:t>
            </a:r>
            <a:r>
              <a:rPr b="0" lang="en-US" sz="1600" spc="-1" strike="noStrike">
                <a:solidFill>
                  <a:srgbClr val="f9fafb"/>
                </a:solidFill>
                <a:latin typeface="Calibri"/>
              </a:rPr>
              <a:t>message?: string }</a:t>
            </a:r>
            <a:endParaRPr b="0" lang="en-CA" sz="1600" spc="-1" strike="noStrike">
              <a:latin typeface="Arial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914400" y="4114800"/>
            <a:ext cx="10058040" cy="14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10b981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10b981"/>
                </a:solidFill>
                <a:latin typeface="Calibri"/>
              </a:rPr>
              <a:t>status: 'ok'  →  Proceed with BitGo transaction, save as OK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ef4444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ef4444"/>
                </a:solidFill>
                <a:latin typeface="Calibri"/>
              </a:rPr>
              <a:t>status: 'error'  →  Block transaction, save as ANOMALOUS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API unreachable  →  Treated as error (fail-safe)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f9fafb"/>
                </a:solidFill>
                <a:latin typeface="Calibri"/>
              </a:rPr>
              <a:t>API URL configured via VITE_API_URL environment variable</a:t>
            </a:r>
            <a:endParaRPr b="0" lang="en-CA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731520" y="457200"/>
            <a:ext cx="1005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b82f6"/>
                </a:solidFill>
                <a:latin typeface="Calibri"/>
              </a:rPr>
              <a:t>Running the Application</a:t>
            </a:r>
            <a:endParaRPr b="0" lang="en-CA" sz="3600" spc="-1" strike="noStrike">
              <a:latin typeface="Arial"/>
            </a:endParaRPr>
          </a:p>
        </p:txBody>
      </p:sp>
      <p:sp>
        <p:nvSpPr>
          <p:cNvPr id="103" name="Rounded Rectangle 2"/>
          <p:cNvSpPr/>
          <p:nvPr/>
        </p:nvSpPr>
        <p:spPr>
          <a:xfrm>
            <a:off x="731520" y="1371600"/>
            <a:ext cx="5028840" cy="457164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TextBox 3"/>
          <p:cNvSpPr/>
          <p:nvPr/>
        </p:nvSpPr>
        <p:spPr>
          <a:xfrm>
            <a:off x="1005840" y="1554480"/>
            <a:ext cx="4571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0b981"/>
                </a:solidFill>
                <a:latin typeface="Calibri"/>
              </a:rPr>
              <a:t>Setup</a:t>
            </a:r>
            <a:endParaRPr b="0" lang="en-CA" sz="2200" spc="-1" strike="noStrike"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1005840" y="2103120"/>
            <a:ext cx="4571640" cy="21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1.  cd walletchecker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2.  npm install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3.  Configure .env with BitGo credentials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4.  npm run dev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Opens at http://localhost:8080</a:t>
            </a:r>
            <a:endParaRPr b="0" lang="en-CA" sz="1700" spc="-1" strike="noStrike">
              <a:latin typeface="Arial"/>
            </a:endParaRPr>
          </a:p>
        </p:txBody>
      </p:sp>
      <p:sp>
        <p:nvSpPr>
          <p:cNvPr id="106" name="Rounded Rectangle 5"/>
          <p:cNvSpPr/>
          <p:nvPr/>
        </p:nvSpPr>
        <p:spPr>
          <a:xfrm>
            <a:off x="6217920" y="1371600"/>
            <a:ext cx="5211720" cy="4571640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TextBox 6"/>
          <p:cNvSpPr/>
          <p:nvPr/>
        </p:nvSpPr>
        <p:spPr>
          <a:xfrm>
            <a:off x="6492240" y="1554480"/>
            <a:ext cx="4754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10b981"/>
                </a:solidFill>
                <a:latin typeface="Calibri"/>
              </a:rPr>
              <a:t>Commands</a:t>
            </a:r>
            <a:endParaRPr b="0" lang="en-CA" sz="2200" spc="-1" strike="noStrike">
              <a:latin typeface="Arial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6492240" y="2103120"/>
            <a:ext cx="4754520" cy="21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npm run dev       →  Start dev server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npm run build    →  Production build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f9fafb"/>
                </a:solidFill>
                <a:latin typeface="Calibri"/>
              </a:rPr>
              <a:t>npm run preview  →  Preview build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9ca3af"/>
                </a:solidFill>
                <a:latin typeface="Calibri"/>
              </a:rPr>
              <a:t>Vite: instant HMR, ~255ms startup</a:t>
            </a:r>
            <a:endParaRPr b="0" lang="en-CA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700" spc="-1" strike="noStrike">
                <a:solidFill>
                  <a:srgbClr val="9ca3af"/>
                </a:solidFill>
                <a:latin typeface="Calibri"/>
              </a:rPr>
              <a:t>TypeScript: strict mode, zero errors</a:t>
            </a:r>
            <a:endParaRPr b="0" lang="en-CA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en-CA</dc:language>
  <cp:lastModifiedBy/>
  <dcterms:modified xsi:type="dcterms:W3CDTF">2026-03-24T19:51:41Z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